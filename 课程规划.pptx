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extended-properties" Target="docProps/app.xml"></Relationship>
  <Relationship Id="rId2" Type="http://schemas.openxmlformats.org/package/2006/relationships/metadata/core-properties" Target="docProps/core.xml"></Relationship>
  <Relationship Id="rId3" Type="http://schemas.openxmlformats.org/officeDocument/2006/relationships/officeDocument" Target="ppt/presentation.xml"></Relationship>
  <Relationship Id="rId4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4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企业级前后端分离项目实战训练营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2788920"/>
            <a:ext cx="292608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 · 分组安排 · 环境准备 · 岗位职责 · 企业开发流程 · 系统实战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面向软件工程相关专业学生  |  以真实 ERP 系统为载体  |  以企业开发流程为主线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8755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9692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课程导入与实训意义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2252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为什么做项目实训 · 能力成长 · 课程目标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16276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分组安排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188366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人一组 · 分组规则 · 角色分工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31136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0428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2286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25420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前后端分离架构 · 技术栈 · 安装清单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89504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29443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计算机相关岗位与分工职责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2004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 / 产品经理 / 前端 / 后端 / 测试 / 运维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2102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36027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企业开发完整流程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38587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 → PRD → 开发 → 测试 → 上线全链路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7939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2611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本次实训系统介绍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5171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系统定位 · 七大子系统 · 核心链路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 · 为什么做项目实训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397764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在校学习场景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以语法、算法、单点知识点为主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作业独立完成，跑通即交付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单机开发，无多人协作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关注「能不能跑」，很少关心「好不好用」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没有真实用户与验收标准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7764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24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B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企业生产场景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前后端分离、多人协作、版本管理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有需求评审、排期、测试、上线流程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关注稳定性、性能、安全、可维护性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代码要可读、可测、可部署、可回滚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以真实业务价值与用户反馈论成败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8321040" cy="1143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实训要补的差距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从「写代码」走向「做产品」：理解真实需求 → 参与团队协作 → 遵循工程流程 → 交付可用系统。项目实训不是再写一个练习，而是用企业的方式把一件事做成、做好、做完整。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实训对能力成长的意义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9728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115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把零散知识串成体系：前端交互 + 后端服务 + 数据库设计 + 接口联调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914400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09728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5072" y="1115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169164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协作、环境搭建、部署上线，掌握企业真实开发工具链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914400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1097280"/>
            <a:ext cx="475488" cy="47548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21424" y="1115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协作能力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7064" y="169164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与组员分工配合、代码评审、沟通对齐，提前适应团队工作方式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7614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944368"/>
            <a:ext cx="475488" cy="47548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产品思维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538728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从用户与业务视角理解需求，学会权衡功能与价值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7614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0712" y="2944368"/>
            <a:ext cx="475488" cy="47548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8" name="Text 26"/>
          <p:cNvSpPr/>
          <p:nvPr/>
        </p:nvSpPr>
        <p:spPr>
          <a:xfrm>
            <a:off x="341071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05072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职业素养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10712" y="3538728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文档、命名、规范、验收意识，养成职业化工作习惯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44184" y="27614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7064" y="294436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227064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1424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就业竞争力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27064" y="3538728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一份可演示、可答辩的项目经历，面试时最有说服力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课程目标与安排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完整走一遍企业开发流程：需求 → 设计 → 开发 → 测试 → 上线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独立完成前后端分离 ERP 系统的核心模块开发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掌握 SpringBoot + Vue3 + MySQL + Git 的工程化协作方式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形成可演示、可答辩的实训作品与团队成果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397764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889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理解需求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 PRD 与业务链路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8600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数据库与接口设计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8770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编码开发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860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前后端并行实现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352544"/>
            <a:ext cx="310896" cy="3108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测试交付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28600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自测、联调、演示答辩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397764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考核方式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小组作品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功能完整性 + 界面质量 + 稳定性，占比最高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项目答辩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364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 + 提问答辩，考察理解深度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3803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代码评审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803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规范、结构、注释、Git 提交记录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4242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过程记录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文档、例会、任务分工的完成情况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分组安排 · 分组规则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5120640" cy="374904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分组规则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08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4-5 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保证角色齐全（组长/前端/后端/测试），又不至于人浮于事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自由组队 + 调剂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先自由组队，未成组同学由老师按能力与方向调剂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能力搭配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33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每组尽量包含编程基础较好与较弱的同学，以强带弱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273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角色明确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255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组内确定组长与各角色分工，提交分工表备案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固定小组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8770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实训期间小组固定，锻炼长期协作与责任意识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914400"/>
            <a:ext cx="2926080" cy="3749040"/>
          </a:xfrm>
          <a:prstGeom prst="roundRect">
            <a:avLst>
              <a:gd name="adj" fmla="val 1563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小组构成示意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1426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1426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统筹进度与协调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029968"/>
            <a:ext cx="457200" cy="45720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页面开发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596896"/>
            <a:ext cx="457200" cy="45720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接口与数据库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3163824"/>
            <a:ext cx="457200" cy="457200"/>
          </a:xfrm>
          <a:prstGeom prst="ellipse">
            <a:avLst/>
          </a:prstGeom>
          <a:solidFill>
            <a:srgbClr val="3A4A94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6656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58952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用例与质量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8932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人 / 组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98932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建议全班 8-12 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小组角色建议分工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3090672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320040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主要职责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能力要求与备注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组长 / 项目经理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任务拆分、进度把控、例会组织、对外汇报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沟通协调强，全局视角，可兼任开发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前端研发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页面开发（Vue3 + ElementUI）、接口联调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HTML/CSS/JS 基础，组件化思维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后端研发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数据库设计、接口实现（SpringBoot + MyBatis）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基础扎实，理解 RESTful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/ 质量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编写用例、执行测试、缺陷跟踪、验收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细心，理解业务流程与边界条件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 / 协作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 理解记录、接口文档、演示准备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全员参与，可结合 Git 协作管理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16052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F7E8C8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245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说明：角色可一人多岗或轮换，但每个角色都应有明确负责人；前端/后端人数不足时，允许组内动态支援。最终分工以小组提交的分工表为准。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 · 前后端分离架构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系统架构总览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178308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用户访问入口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ElementUI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50592" y="1691640"/>
            <a:ext cx="237744" cy="201168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4173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417320"/>
            <a:ext cx="17830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前端应用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16352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环境运行构建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16352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/ Vite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1691640"/>
            <a:ext cx="237744" cy="201168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4173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17320"/>
            <a:ext cx="1783080" cy="25603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SpringBoot RESTful API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9472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 ORM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56832" y="1691640"/>
            <a:ext cx="237744" cy="201168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417320"/>
            <a:ext cx="17830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417320"/>
            <a:ext cx="1783080" cy="256032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22592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22592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业务数据存储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7744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3796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JDBC / SQL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429000"/>
            <a:ext cx="83210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为什么前后端分离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382219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职责分离：前端专注交互与展示，后端专注业务与数据，可并行开发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接口契约：通过 RESTful API 定义契约，前后端独立演进、独立部署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企业主流：当前互联网公司普遍采用的前后端分离协作模式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技术栈清单与版本建议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3767328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37744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版本建议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后端开发语言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JDK 17（LTS）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 3.x 要求 17+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后端框架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内嵌 Tomcat，快速构建服务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MyBatis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ORM 持久层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3.5.x（配合 spring-boot-starter）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 可控，适合复杂业务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关系型数据库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8.0.x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存储业务数据，UTF-8mb4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Node.js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前端运行环境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LTS 或 20 LTS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npm 包管理 + Vite 构建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组合式 API + 工程化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ElementUI / Element Plus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组件库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Element Plus 2.x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中后台界面开箱即用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版本控制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最新稳定版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配合 Gitee/GitHub 远程仓库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Postman / Apifox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接口调试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前后端联调与测试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环境安装清单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2011680" cy="3703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011680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后端环境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3716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JDK 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591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下载安装，配置 JAVA_HOME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Maven 3.8+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21284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配置国内镜像源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1208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Lombok 等插件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1208" y="3236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" y="34564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start.spring.io 建工程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914400"/>
            <a:ext cx="2011680" cy="3703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14400"/>
            <a:ext cx="2011680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前端环境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24328" y="13716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18+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24328" y="1591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 npm，验证 node -v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24328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CLI / Vite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24328" y="221284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全局或项目内安装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24328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24328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Vetur/Volar 插件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24328" y="3236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24328" y="34564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安装组件库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914400"/>
            <a:ext cx="2011680" cy="3703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914400"/>
            <a:ext cx="2011680" cy="310896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数据库环境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27448" y="13716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27448" y="1591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root 密码与编码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27448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Navicat / DataGrip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27448" y="221284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图形化建库建表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27448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27448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集成到 SpringBoot 工程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27448" y="3236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初始化脚本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27448" y="34564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建库建表 SQL 落库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20840" y="914400"/>
            <a:ext cx="2011680" cy="37033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914400"/>
            <a:ext cx="2011680" cy="310896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协作与调试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30568" y="13716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1591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user.name/email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30568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Gitee / GitHub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30568" y="221284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创建远程仓库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30568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Postman / Apifox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30568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接口调试与集合管理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30568" y="32369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30568" y="34564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编写项目文档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计算机相关岗位与分工职责 · 总览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64008" cy="1060704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241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03120" y="1060704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0698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提出业务诉求、定义业务价值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36008" y="914400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914400"/>
            <a:ext cx="64008" cy="1060704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0241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27648" y="1060704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0698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需求翻译官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把业务诉求转化为产品方案（MRD/PRD）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121408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21408"/>
            <a:ext cx="64008" cy="10607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231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研发-前端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103120" y="2267712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22768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界面实现者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624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把设计变成可交互的用户界面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36008" y="2121408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2121408"/>
            <a:ext cx="64008" cy="106070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231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研发-后端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2267712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2768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逻辑实现者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2624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业务逻辑、数据存储与接口服务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328416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328416"/>
            <a:ext cx="64008" cy="10607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4381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103120" y="347472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2103120" y="34838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质量守门员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用用例验证功能正确性，守住质量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36008" y="3328416"/>
            <a:ext cx="40690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3328416"/>
            <a:ext cx="64008" cy="10607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34381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27648" y="347472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327648" y="34838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运行保障者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18888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环境、部署、监控，保障稳定上线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业务方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提出真实业务诉求、提供业务规则与数据的「需求源头」，决定系统「做什么」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描述业务现状、痛点与期望目标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明确业务规则、流程与数据口径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参与需求评审，确认需求优先级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提供真实业务数据与样例供开发使用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参与验收，确认系统是否满足业务目标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确保团队「做正确的事」：一切功能都以业务价值为出发点，避免技术自嗨与无效建设。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业务视角、结果导向、关注可落地性与真实收益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业务需求描述、业务规则说明、验收标准、业务数据样例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向产品经理提出需求；与研发确认可行性；与测试对齐验收标准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产品经理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MANAGER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连接业务与研发的「需求翻译官」，把业务诉求转化为可开发、可验证的产品方案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需求调研、梳理与优先级排序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产出 MRD、PRD 与原型设计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组织需求评审并维护需求基线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开发过程中澄清需求、解答疑问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组织验收，把控需求交付质量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保证需求可理解、可执行、可验收，是业务价值到产品功能的翻译与把关环节。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用户价值、逻辑闭环、细节边界、优先级取舍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MRD、PRD、原型图、需求池、验收清单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上游对接业务方；下游交付研发；与测试对齐验收用例与边界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研发-前端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FRONT-END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负责用户可见的一切界面与交互，把产品设计变成可操作的页面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基于 Vue3 + ElementUI 开发页面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对接后端接口并完成联调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封装公共组件，优化页面性能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处理表单校验、状态与交互细节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配合测试复现并修复缺陷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决定产品的使用体验与视觉呈现，是用户直接接触系统的第一道门面。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交互细节、视觉还原、接口联调效率、浏览器兼容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前端工程代码、公共组件、联调文档、前端部署包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从产品经理接收原型；对接后端 API 契约；配合测试复现问题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研发-后端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BACK-END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负责业务逻辑、数据存储与接口服务，是系统稳定运行的「大脑与心脏」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数据库表结构设计与初始化脚本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RESTful 接口设计与实现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业务规则校验与事务一致性处理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接口文档（Swagger）与日志规范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响应测试缺陷与性能问题修复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承载核心业务规则与数据资产，前端与业务都依赖后端接口的稳定与正确。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数据一致性、接口契约、代码质量、安全与可维护性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数据库脚本、后端代码、接口文档、部署说明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向前端提供 API；为测试提供环境与修复；与产品确认业务规则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测试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/ TEST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用系统化的用例验证功能正确性，是交付质量「最后一道防线」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理解需求并编写测试用例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执行功能、接口与回归测试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缺陷提交、跟踪与复验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冒烟测试与上线前验证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输出测试报告与验收结论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在用户发现问题之前发现问题，用证据证明系统符合需求，守住交付底线。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用例覆盖率、边界条件、缺陷描述质量、回归意识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测试用例、缺陷记录、测试报告、验收清单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从产品经理获取需求写用例；向研发提交缺陷；与运维确认发布窗口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岗位详解 · 运维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/ OPS  |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9509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保障系统运行环境与发布流程，让代码安全、稳定、快速地跑起来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39776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搭建开发/测试/预发/生产环境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配置 CI/CD 自动化部署流水线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监控、日志、备份与安全检查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执行发布与回滚预案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维护部署文档与环境一致性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3977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作用与价值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让「代码可用」变成「服务可用」，系统的稳定性、可恢复性由运维兜底。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工作侧重点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自动化、稳定性、可回滚、环境一致性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核心产出物：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745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部署脚本、环境文档、监控告警、发布记录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接收研发构建产物部署；为测试提供环境；与全组约定发布流程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企业开发完整流程 · 总览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需求阶段：明确做什么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产品阶段：细化怎么做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研发阶段：落地实现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868680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业务提需求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07592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1581912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912" y="1280160"/>
            <a:ext cx="868680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581912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32304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06624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6624" y="1280160"/>
            <a:ext cx="868680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706624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MRD评审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57016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1" name="Shape 19"/>
          <p:cNvSpPr/>
          <p:nvPr/>
        </p:nvSpPr>
        <p:spPr>
          <a:xfrm>
            <a:off x="3831336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31336" y="1280160"/>
            <a:ext cx="868680" cy="64008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23" name="Text 21"/>
          <p:cNvSpPr/>
          <p:nvPr/>
        </p:nvSpPr>
        <p:spPr>
          <a:xfrm>
            <a:off x="3831336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56048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280160"/>
            <a:ext cx="868680" cy="64008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PRD评审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06440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280160"/>
            <a:ext cx="868680" cy="640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开发文档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31152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5472" y="128016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05472" y="1280160"/>
            <a:ext cx="868680" cy="640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13624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55864" y="1444752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1938528"/>
            <a:ext cx="117043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1938528"/>
            <a:ext cx="1170432" cy="640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20208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开发+测试用例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09344" y="2103120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1" name="Shape 39"/>
          <p:cNvSpPr/>
          <p:nvPr/>
        </p:nvSpPr>
        <p:spPr>
          <a:xfrm>
            <a:off x="1883664" y="193852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83664" y="1938528"/>
            <a:ext cx="868680" cy="640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3" name="Text 41"/>
          <p:cNvSpPr/>
          <p:nvPr/>
        </p:nvSpPr>
        <p:spPr>
          <a:xfrm>
            <a:off x="1883664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自测冒烟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34056" y="2103120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5" name="Shape 43"/>
          <p:cNvSpPr/>
          <p:nvPr/>
        </p:nvSpPr>
        <p:spPr>
          <a:xfrm>
            <a:off x="3008376" y="193852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08376" y="1938528"/>
            <a:ext cx="868680" cy="64008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47" name="Text 45"/>
          <p:cNvSpPr/>
          <p:nvPr/>
        </p:nvSpPr>
        <p:spPr>
          <a:xfrm>
            <a:off x="3008376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58768" y="2103120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9" name="Shape 47"/>
          <p:cNvSpPr/>
          <p:nvPr/>
        </p:nvSpPr>
        <p:spPr>
          <a:xfrm>
            <a:off x="4133088" y="193852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33088" y="1938528"/>
            <a:ext cx="868680" cy="64008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51" name="Text 49"/>
          <p:cNvSpPr/>
          <p:nvPr/>
        </p:nvSpPr>
        <p:spPr>
          <a:xfrm>
            <a:off x="4133088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2103120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53" name="Shape 51"/>
          <p:cNvSpPr/>
          <p:nvPr/>
        </p:nvSpPr>
        <p:spPr>
          <a:xfrm>
            <a:off x="5257800" y="193852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57800" y="1938528"/>
            <a:ext cx="868680" cy="64008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55" name="Text 53"/>
          <p:cNvSpPr/>
          <p:nvPr/>
        </p:nvSpPr>
        <p:spPr>
          <a:xfrm>
            <a:off x="5257800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预发灰度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8192" y="2103120"/>
            <a:ext cx="219456" cy="146304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57" name="Shape 55"/>
          <p:cNvSpPr/>
          <p:nvPr/>
        </p:nvSpPr>
        <p:spPr>
          <a:xfrm>
            <a:off x="6382512" y="193852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82512" y="1938528"/>
            <a:ext cx="868680" cy="64008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59" name="Text 57"/>
          <p:cNvSpPr/>
          <p:nvPr/>
        </p:nvSpPr>
        <p:spPr>
          <a:xfrm>
            <a:off x="6382512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每个节点都有明确产出物与评审门禁，通过后才进入下一节点，保证需求、设计、代码、质量全程可控可追溯。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379476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3794760"/>
            <a:ext cx="640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3" name="Text 61"/>
          <p:cNvSpPr/>
          <p:nvPr/>
        </p:nvSpPr>
        <p:spPr>
          <a:xfrm>
            <a:off x="621792" y="3831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需求阶段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011680" y="38313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做什么、为什么做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425196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251960"/>
            <a:ext cx="64008" cy="384048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67" name="Text 65"/>
          <p:cNvSpPr/>
          <p:nvPr/>
        </p:nvSpPr>
        <p:spPr>
          <a:xfrm>
            <a:off x="621792" y="4288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产品阶段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011680" y="42885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细化到可执行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470916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4709160"/>
            <a:ext cx="64008" cy="3840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1" name="Text 69"/>
          <p:cNvSpPr/>
          <p:nvPr/>
        </p:nvSpPr>
        <p:spPr>
          <a:xfrm>
            <a:off x="621792" y="4745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研发阶段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011680" y="47457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落地实现与自测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516636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DF1F9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5166360"/>
            <a:ext cx="64008" cy="384048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75" name="Text 73"/>
          <p:cNvSpPr/>
          <p:nvPr/>
        </p:nvSpPr>
        <p:spPr>
          <a:xfrm>
            <a:off x="621792" y="5202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B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测试发布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011680" y="520293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验证质量并上线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流程节点详解 · 需求与产品阶段（节点 1-5）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3163824"/>
        </p:xfrm>
        <a:graphic>
          <a:graphicData uri="http://schemas.openxmlformats.org/drawingml/2006/table">
            <a:tbl>
              <a:tblPr/>
              <a:tblGrid>
                <a:gridCol w="960120"/>
                <a:gridCol w="2743200"/>
                <a:gridCol w="1371600"/>
                <a:gridCol w="23317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参与角色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业务提需求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业务方提出痛点与诉求，说明业务背景、期望目标与验收想法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业务需求描述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明确「做什么、为什么做」，是价值源头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产出 MRD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产品经理调研梳理，论证业务价值与可行性，形成市场需求文档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对齐价值与范围，识别伪需求与优先级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MRD 评审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业务、产品、研发、测试共同评审市场价值与范围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评审结论与修订意见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多方共识，砍掉伪需求、锁定大致范围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业务+产品+研发+测试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产出 PRD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产品经理细化功能需求，输出 PRD 与原型，明确功能细节与边界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PRD、原型图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把「做什么」细化到可开发、可测试的程度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PRD 评审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全角色评审功能逻辑、规则与验收标准，达成一致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评审纪要、需求基线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锁定需求基线，后续变更走变更流程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全体角色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流程节点详解 · 研发阶段（节点 6-9）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2596896"/>
        </p:xfrm>
        <a:graphic>
          <a:graphicData uri="http://schemas.openxmlformats.org/drawingml/2006/table">
            <a:tbl>
              <a:tblPr/>
              <a:tblGrid>
                <a:gridCol w="960120"/>
                <a:gridCol w="2743200"/>
                <a:gridCol w="1371600"/>
                <a:gridCol w="23317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参与角色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开发文档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研发产出技术方案：功能清单、实现方案、数据库设计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开发文档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明确「怎么做」：架构、表结构、接口契约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研发（前后端）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排期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组长/项目经理拆分任务、评估工作量、制定里程碑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排期表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让进度可控，暴露风险与依赖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组长/项目经理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开发+测试用例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前后端并行开发，测试同步编写冒烟与功能用例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 + 测试用例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开发与验证同步推进，避免「先写代码后补测」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 + 测试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自测冒烟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研发自测核心主流程，确保基本功能可运行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冒烟通过记录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保证交付物可用，不浪费测试时间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流程节点详解 · 测试与发布阶段（节点 10-13）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2596896"/>
        </p:xfrm>
        <a:graphic>
          <a:graphicData uri="http://schemas.openxmlformats.org/drawingml/2006/table">
            <a:tbl>
              <a:tblPr/>
              <a:tblGrid>
                <a:gridCol w="960120"/>
                <a:gridCol w="2743200"/>
                <a:gridCol w="1371600"/>
                <a:gridCol w="23317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参与角色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测试环境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研发提交代码，运维/研发部署到隔离的测试环境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测试环境包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在独立环境验证，不影响正式数据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 + 运维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测试执行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测试按用例执行，提交缺陷，研发修复后复验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缺陷记录、测试报告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系统化验证质量，问题闭环管理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+ 研发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预发/灰度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测试通过后部署预发/灰度，小范围真实数据验证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灰度验证记录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上线前最后一道真实检验，降低风险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 + 全体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上线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确认无误后正式发布生产环境，监控运行状态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8B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上线公告、回滚预案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交付业务价值，开启运营与迭代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C4AB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 + 全体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全流程质量门禁与角色协作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每阶段「出口标准」（质量门禁）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517904" cy="123444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4813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需求评审通过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" y="223113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MRD/PRD 评审无遗留问题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76272" y="1371600"/>
            <a:ext cx="1517904" cy="123444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4912" y="1481328"/>
            <a:ext cx="420624" cy="420624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31136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文档齐备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31136" y="223113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开发文档与接口文档完整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03904" y="1371600"/>
            <a:ext cx="1517904" cy="123444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1481328"/>
            <a:ext cx="420624" cy="42062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4352544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58768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自测通过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58768" y="223113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冒烟用例全部通过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31536" y="1371600"/>
            <a:ext cx="1517904" cy="123444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481328"/>
            <a:ext cx="420624" cy="42062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5" name="Text 23"/>
          <p:cNvSpPr/>
          <p:nvPr/>
        </p:nvSpPr>
        <p:spPr>
          <a:xfrm>
            <a:off x="5980176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223113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功能用例通过、无遗留缺陷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59168" y="1371600"/>
            <a:ext cx="1517904" cy="123444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07808" y="1481328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6078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14032" y="19751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灰度通过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14032" y="223113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预发/灰度验证无异常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2971800"/>
            <a:ext cx="83210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角色在流程中的位置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3401568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10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86000" y="341071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需求输入、验收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666744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75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86000" y="367588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MRD/PRD、评审、全程需求答疑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3931920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41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0" y="394106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开发文档、编码、自测、缺陷修复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197096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286000" y="42062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用例、测试执行、缺陷跟踪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4462272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4714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286000" y="447141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环境、部署、发布、监控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本次实训系统介绍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2377440"/>
            <a:ext cx="292608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我们要一起做的，是一套可运行、可演示、可答辩的企业级 ERP 系统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783080" cy="658368"/>
          </a:xfrm>
          <a:prstGeom prst="roundRect">
            <a:avLst>
              <a:gd name="adj" fmla="val 6944"/>
            </a:avLst>
          </a:prstGeom>
          <a:solidFill>
            <a:srgbClr val="27336E"/>
          </a:solidFill>
          <a:ln w="12700">
            <a:solidFill>
              <a:srgbClr val="3A4A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3284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584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系统定位与整体架构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78608" y="3291840"/>
            <a:ext cx="1783080" cy="658368"/>
          </a:xfrm>
          <a:prstGeom prst="roundRect">
            <a:avLst>
              <a:gd name="adj" fmla="val 6944"/>
            </a:avLst>
          </a:prstGeom>
          <a:solidFill>
            <a:srgbClr val="27336E"/>
          </a:solidFill>
          <a:ln w="12700">
            <a:solidFill>
              <a:srgbClr val="3A4A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284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584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七大子系统与核心功能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3291840"/>
            <a:ext cx="1783080" cy="658368"/>
          </a:xfrm>
          <a:prstGeom prst="roundRect">
            <a:avLst>
              <a:gd name="adj" fmla="val 6944"/>
            </a:avLst>
          </a:prstGeom>
          <a:solidFill>
            <a:srgbClr val="27336E"/>
          </a:solidFill>
          <a:ln w="12700">
            <a:solidFill>
              <a:srgbClr val="3A4A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3284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3584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核心业务链路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38544" y="3291840"/>
            <a:ext cx="1783080" cy="658368"/>
          </a:xfrm>
          <a:prstGeom prst="roundRect">
            <a:avLst>
              <a:gd name="adj" fmla="val 6944"/>
            </a:avLst>
          </a:prstGeom>
          <a:solidFill>
            <a:srgbClr val="27336E"/>
          </a:solidFill>
          <a:ln w="12700">
            <a:solidFill>
              <a:srgbClr val="3A4A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33284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11696" y="3584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技术栈与岗位分工对应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系统定位与整体架构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ERP（企业资源计划系统）：面向中小企业进销存一体化管理的信息系统，覆盖主数据、采购、销售、仓储、财务、报表与定时任务，实现物流、资金流、信息流「三流合一」。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73152" cy="603504"/>
          </a:xfrm>
          <a:prstGeom prst="rect">
            <a:avLst/>
          </a:prstGeom>
          <a:solidFill>
            <a:srgbClr val="6C4AB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1226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A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/ 批处理层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11226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业务报表系统 · 定时任务系统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11226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数据呈现与自动化任务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734056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34056"/>
            <a:ext cx="73152" cy="603504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88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B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/ 资金层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78892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仓储系统 · 财务系统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7889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库存出入与资金流转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410712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10712"/>
            <a:ext cx="73152" cy="60350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655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46557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进销存系统（采购/销售/退货）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46557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业务交易与单据流转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087368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87368"/>
            <a:ext cx="73152" cy="6035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422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1422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基础维护 · CRM 系统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1422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统一基础档案与伙伴管理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七大子系统与核心功能点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3255264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429768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核心职责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对应页面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基础维护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BM-01 ~ 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地区/分公司/部门/员工/角色/资源/仓库等主数据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CRM 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CRM-01 ~ 07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供应商与客户档案、信用管理、跟进与对账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crm.html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进销存系统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INV-01 ~ 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商品、采购/销售/退货及审批、调度、运输、跟单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inventory.html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业务报表系统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RPT-01 ~ 08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各业务主线报表展示与分析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reports.html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仓储系统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WMS-01 ~ 09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出入库、库存统计、盘盈盘亏、货物转接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warehouse.html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定时任务系统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JOB-01 ~ 07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货物/安全预警、常用商品频度、定时报表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jobs.html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5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FIN-01 ~ 07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子系统间资金转账、收付款核销管理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finance.html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206240"/>
            <a:ext cx="8321040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611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63 个功能点（BM / CRM / INV / RPT / WMS / JOB / FIN），另含 RBAC 角色权限与公共规则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82296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核心业务链路与分工对应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核心单据流（采购 / 销售双主线）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采购需求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99616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1" name="Shape 9"/>
          <p:cNvSpPr/>
          <p:nvPr/>
        </p:nvSpPr>
        <p:spPr>
          <a:xfrm>
            <a:off x="1627632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采购单(审批)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78608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06624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报备/票据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0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3785616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车辆调度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36592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运输任务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到货入库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94576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22592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采购结算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973568" y="1417320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1584" y="1325880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7E8C8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13441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跟单结单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55648" y="1810512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34" name="Shape 32"/>
          <p:cNvSpPr/>
          <p:nvPr/>
        </p:nvSpPr>
        <p:spPr>
          <a:xfrm>
            <a:off x="1883664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83664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销售单(审批)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90672" y="1810512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37" name="Shape 35"/>
          <p:cNvSpPr/>
          <p:nvPr/>
        </p:nvSpPr>
        <p:spPr>
          <a:xfrm>
            <a:off x="3218688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18688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报备/票据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25696" y="1810512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0" name="Shape 38"/>
          <p:cNvSpPr/>
          <p:nvPr/>
        </p:nvSpPr>
        <p:spPr>
          <a:xfrm>
            <a:off x="4553712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53712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出库发货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60720" y="1810512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3" name="Shape 41"/>
          <p:cNvSpPr/>
          <p:nvPr/>
        </p:nvSpPr>
        <p:spPr>
          <a:xfrm>
            <a:off x="5888736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F7FA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88736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销售回款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095744" y="1810512"/>
            <a:ext cx="118872" cy="128016"/>
          </a:xfrm>
          <a:prstGeom prst="rightArrow">
            <a:avLst/>
          </a:prstGeom>
          <a:solidFill>
            <a:srgbClr val="E0A526"/>
          </a:solidFill>
          <a:ln/>
        </p:spPr>
      </p:sp>
      <p:sp>
        <p:nvSpPr>
          <p:cNvPr id="46" name="Shape 44"/>
          <p:cNvSpPr/>
          <p:nvPr/>
        </p:nvSpPr>
        <p:spPr>
          <a:xfrm>
            <a:off x="7223760" y="17190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7E8C8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跟单结单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2514600"/>
            <a:ext cx="832104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9D4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技术栈与岗位分工对应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046720" cy="1938528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474720"/>
                <a:gridCol w="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实训中负责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前端研发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Vue3 + Element Plus + Axios + Node.js/Vite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页面开发、接口联调、交互体验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后端研发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 + MyBatis + MySQL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数据库设计、业务接口、事务与权限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测试用例 + Postman/Apifox + 缺陷管理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用例设计、功能与接口测试、回归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运维/部署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+ 部署脚本 + 环境管理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版本管理、环境搭建、演示部署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产品/组长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PRD + 原型 + 任务拆分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需求把控、进度管理、对外汇报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12700">
            <a:solidFill>
              <a:srgbClr val="C9D4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1480" y="4864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863840" y="4864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用真实项目，练就企业级工程能力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2286000"/>
            <a:ext cx="292608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实训结束后，你将收获：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237744" cy="23774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一个可运行、可演示、可答辩的完整 ERP 系统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483864"/>
            <a:ext cx="237744" cy="23774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4381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一次完整的企业开发流程参与经历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904488"/>
            <a:ext cx="237744" cy="23774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一套前后端分离的工程化协作技能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325112"/>
            <a:ext cx="237744" cy="23774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2793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一份能写进简历、能讲清楚的项目成果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项目实训课程规划  |  谢谢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1455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99999"/>
                </a:solidFill>
              </a:rPr>
              <a:t>（内容由AI生成，仅供参考）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2026-08-30T15:14:27Z</dcterms:created>
  <dcterms:modified xsi:type="dcterms:W3CDTF">2026-08-30T15:14:27Z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4ddf94ab1f64d9e3182e453f2d8cfc44_206f54aea48611f192a2525400287e28","ReservedCode1":"aI6MKEW67zegexQcbwlqSdT0U3jl3UgxHG4LcHG9i42S3icxvmCV20cC1ULt2DrjsK2ewBU9ViZdXRobIqSNiYLCfLYxWt2Y8beHTlQWz0W24b3dMafPFN32RP8jRqDyiIJ5tkz1kl5CnlRa8vrMw9SryluSRKbwbNCdMzGa3H2kZIRAWvD31l20BNo=","ContentPropagator":"001191440300708461136T1XGW3","PropagateID":"4ddf94ab1f64d9e3182e453f2d8cfc44_206f54aea48611f192a2525400287e28","ReservedCode2":"aI6MKEW67zegexQcbwlqSdT0U3jl3UgxHG4LcHG9i42S3icxvmCV20cC1ULt2DrjsK2ewBU9ViZdXRobIqSNiYLCfLYxWt2Y8beHTlQWz0W24b3dMafPFN32RP8jRqDyiIJ5tkz1kl5CnlRa8vrMw9SryluSRKbwbNCdMzGa3H2kZIRAWvD31l20BNo="}</vt:lpwstr>
  </property>
</Properties>
</file>